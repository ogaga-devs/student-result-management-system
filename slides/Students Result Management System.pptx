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6" Type="http://schemas.microsoft.com/office/2020/02/relationships/classificationlabels" Target="docMetadata/LabelInfo.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4"/>
  </p:notesMasterIdLst>
  <p:handoutMasterIdLst>
    <p:handoutMasterId r:id="rId15"/>
  </p:handoutMasterIdLst>
  <p:sldIdLst>
    <p:sldId id="410" r:id="rId5"/>
    <p:sldId id="383" r:id="rId6"/>
    <p:sldId id="409" r:id="rId7"/>
    <p:sldId id="389" r:id="rId8"/>
    <p:sldId id="391" r:id="rId9"/>
    <p:sldId id="411" r:id="rId10"/>
    <p:sldId id="397" r:id="rId11"/>
    <p:sldId id="408" r:id="rId12"/>
    <p:sldId id="40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327" autoAdjust="0"/>
  </p:normalViewPr>
  <p:slideViewPr>
    <p:cSldViewPr snapToGrid="0">
      <p:cViewPr varScale="1">
        <p:scale>
          <a:sx n="75" d="100"/>
          <a:sy n="75" d="100"/>
        </p:scale>
        <p:origin x="540"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viewProps" Target="viewProps.xml" /><Relationship Id="rId3" Type="http://schemas.openxmlformats.org/officeDocument/2006/relationships/customXml" Target="../customXml/item3.xml" /><Relationship Id="rId21" Type="http://schemas.microsoft.com/office/2018/10/relationships/authors" Target="author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commentAuthors" Target="commentAuthors.xml" /><Relationship Id="rId20"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handoutMaster" Target="handoutMasters/handoutMaster1.xml" /><Relationship Id="rId10" Type="http://schemas.openxmlformats.org/officeDocument/2006/relationships/slide" Target="slides/slide6.xml" /><Relationship Id="rId19"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notesMaster" Target="notesMasters/notesMaster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1/16/2026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273043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6646-BED0-6ADA-A21D-A6B5D5D39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A7A01-FD93-F20C-FACF-7BC8D29C5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CBAE9-294B-CBE6-BCF1-36E3E593D7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D4207A-C190-6109-AAB9-276819C781A8}"/>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176713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501160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5.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3.xml"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7.xml" /><Relationship Id="rId5" Type="http://schemas.openxmlformats.org/officeDocument/2006/relationships/image" Target="../media/image3.png" /><Relationship Id="rId4" Type="http://schemas.microsoft.com/office/2007/relationships/hdphoto" Target="../media/hdphoto1.wdp"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5.xml" /><Relationship Id="rId1" Type="http://schemas.openxmlformats.org/officeDocument/2006/relationships/slideLayout" Target="../slideLayouts/slideLayout5.xml" /><Relationship Id="rId4" Type="http://schemas.openxmlformats.org/officeDocument/2006/relationships/image" Target="../media/image5.png" /></Relationships>
</file>

<file path=ppt/slides/_rels/slide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6.xml" /><Relationship Id="rId1" Type="http://schemas.openxmlformats.org/officeDocument/2006/relationships/slideLayout" Target="../slideLayouts/slideLayout5.xml" /></Relationships>
</file>

<file path=ppt/slides/_rels/slide7.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7.xml" /><Relationship Id="rId1" Type="http://schemas.openxmlformats.org/officeDocument/2006/relationships/slideLayout" Target="../slideLayouts/slideLayout5.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771900" y="411479"/>
            <a:ext cx="8024404" cy="3291840"/>
          </a:xfrm>
        </p:spPr>
        <p:txBody>
          <a:bodyPr/>
          <a:lstStyle/>
          <a:p>
            <a:r>
              <a:rPr lang="en-GB" dirty="0">
                <a:solidFill>
                  <a:schemeClr val="accent3"/>
                </a:solidFill>
              </a:rPr>
              <a:t>Students Result Management System</a:t>
            </a:r>
            <a:endParaRPr lang="en-US" dirty="0">
              <a:solidFill>
                <a:schemeClr val="accent3"/>
              </a:solidFill>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02875"/>
            <a:ext cx="10873740" cy="1680205"/>
          </a:xfrm>
        </p:spPr>
        <p:txBody>
          <a:bodyPr anchor="b">
            <a:normAutofit/>
          </a:bodyPr>
          <a:lstStyle/>
          <a:p>
            <a:r>
              <a:rPr lang="en-US"/>
              <a:t>Outline</a:t>
            </a:r>
          </a:p>
        </p:txBody>
      </p:sp>
      <p:sp>
        <p:nvSpPr>
          <p:cNvPr id="11"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4360" y="1942679"/>
            <a:ext cx="7810500" cy="4308101"/>
          </a:xfrm>
        </p:spPr>
        <p:txBody>
          <a:bodyPr tIns="457200">
            <a:normAutofit/>
          </a:bodyPr>
          <a:lstStyle/>
          <a:p>
            <a:pPr lvl="1"/>
            <a:r>
              <a:rPr lang="en-GB" dirty="0"/>
              <a:t>Project Overview &amp; Objectives</a:t>
            </a:r>
            <a:endParaRPr lang="en-US" dirty="0"/>
          </a:p>
          <a:p>
            <a:pPr lvl="1"/>
            <a:r>
              <a:rPr lang="en-GB" dirty="0"/>
              <a:t>Data Engineering &amp; Methodology</a:t>
            </a:r>
            <a:endParaRPr lang="en-US" dirty="0"/>
          </a:p>
          <a:p>
            <a:pPr lvl="1"/>
            <a:r>
              <a:rPr lang="en-GB" dirty="0"/>
              <a:t>Technical Implementation(EDA &amp; Preprocessing)</a:t>
            </a:r>
            <a:endParaRPr lang="en-US" dirty="0"/>
          </a:p>
          <a:p>
            <a:pPr lvl="1"/>
            <a:r>
              <a:rPr lang="en-GB" dirty="0"/>
              <a:t>Variables &amp; Model Evaluation</a:t>
            </a:r>
            <a:endParaRPr lang="en-US" dirty="0"/>
          </a:p>
          <a:p>
            <a:pPr lvl="1"/>
            <a:r>
              <a:rPr lang="en-US" dirty="0"/>
              <a:t>Practical Application &amp; Conclusion </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37279A-330D-886F-340D-494A5005E5FC}"/>
              </a:ext>
            </a:extLst>
          </p:cNvPr>
          <p:cNvSpPr>
            <a:spLocks noGrp="1"/>
          </p:cNvSpPr>
          <p:nvPr>
            <p:ph type="title"/>
          </p:nvPr>
        </p:nvSpPr>
        <p:spPr>
          <a:xfrm>
            <a:off x="6318885" y="3499667"/>
            <a:ext cx="4939666" cy="2542810"/>
          </a:xfrm>
        </p:spPr>
        <p:txBody>
          <a:bodyPr anchor="b">
            <a:normAutofit/>
          </a:bodyPr>
          <a:lstStyle/>
          <a:p>
            <a:r>
              <a:rPr lang="en-GB" dirty="0">
                <a:solidFill>
                  <a:schemeClr val="tx2"/>
                </a:solidFill>
              </a:rPr>
              <a:t>Project Overview &amp; Objectives</a:t>
            </a:r>
            <a:br>
              <a:rPr lang="en-US" dirty="0"/>
            </a:br>
            <a:endParaRPr lang="en-US" dirty="0"/>
          </a:p>
        </p:txBody>
      </p:sp>
      <p:pic>
        <p:nvPicPr>
          <p:cNvPr id="11" name="Picture Placeholder 10" descr="White and black robot hands">
            <a:extLst>
              <a:ext uri="{FF2B5EF4-FFF2-40B4-BE49-F238E27FC236}">
                <a16:creationId xmlns:a16="http://schemas.microsoft.com/office/drawing/2014/main" id="{8DB431A1-9806-9CFE-0E5F-1A5611C2A666}"/>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rcRect t="13236" r="3" b="7934"/>
          <a:stretch>
            <a:fillRect/>
          </a:stretch>
        </p:blipFill>
        <p:spPr>
          <a:xfrm>
            <a:off x="603885" y="457201"/>
            <a:ext cx="5198269" cy="2305050"/>
          </a:xfrm>
          <a:noFill/>
        </p:spPr>
      </p:pic>
      <p:sp>
        <p:nvSpPr>
          <p:cNvPr id="16" name="Text Placeholder 3">
            <a:extLst>
              <a:ext uri="{FF2B5EF4-FFF2-40B4-BE49-F238E27FC236}">
                <a16:creationId xmlns:a16="http://schemas.microsoft.com/office/drawing/2014/main" id="{D61F2BE3-6726-8453-84A4-77D7C1D69965}"/>
              </a:ext>
            </a:extLst>
          </p:cNvPr>
          <p:cNvSpPr>
            <a:spLocks noGrp="1"/>
          </p:cNvSpPr>
          <p:nvPr>
            <p:ph sz="quarter" idx="15"/>
          </p:nvPr>
        </p:nvSpPr>
        <p:spPr>
          <a:xfrm>
            <a:off x="594360" y="2810595"/>
            <a:ext cx="5198269" cy="3319513"/>
          </a:xfrm>
        </p:spPr>
        <p:txBody>
          <a:bodyPr>
            <a:normAutofit/>
          </a:bodyPr>
          <a:lstStyle/>
          <a:p>
            <a:r>
              <a:rPr lang="en-US" sz="1700" dirty="0"/>
              <a:t>Project Title : Students Result Management System.</a:t>
            </a:r>
          </a:p>
          <a:p>
            <a:r>
              <a:rPr lang="en-GB" sz="1700" dirty="0"/>
              <a:t>Data Source: Student Performance Dataset from Kaggle</a:t>
            </a:r>
          </a:p>
          <a:p>
            <a:r>
              <a:rPr lang="en-US" sz="1700" dirty="0"/>
              <a:t>Primary Aim: To build a predictive model that identifies students at academic risk and also identify possible influencing factors.</a:t>
            </a:r>
          </a:p>
          <a:p>
            <a:r>
              <a:rPr lang="en-US" sz="1700" dirty="0"/>
              <a:t>The Goal: Develop a system to classify students as either 'At Risk' (intervention needed) or 'Not At Risk' (progressing normally).</a:t>
            </a:r>
          </a:p>
        </p:txBody>
      </p:sp>
    </p:spTree>
    <p:extLst>
      <p:ext uri="{BB962C8B-B14F-4D97-AF65-F5344CB8AC3E}">
        <p14:creationId xmlns:p14="http://schemas.microsoft.com/office/powerpoint/2010/main" val="224937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CE60-587E-1D5C-8B50-ED3441BA49CE}"/>
              </a:ext>
            </a:extLst>
          </p:cNvPr>
          <p:cNvSpPr>
            <a:spLocks noGrp="1"/>
          </p:cNvSpPr>
          <p:nvPr>
            <p:ph type="title"/>
          </p:nvPr>
        </p:nvSpPr>
        <p:spPr>
          <a:xfrm>
            <a:off x="594360" y="278129"/>
            <a:ext cx="9778365" cy="1494596"/>
          </a:xfrm>
        </p:spPr>
        <p:txBody>
          <a:bodyPr anchor="b">
            <a:normAutofit/>
          </a:bodyPr>
          <a:lstStyle/>
          <a:p>
            <a:r>
              <a:rPr lang="en-GB" dirty="0">
                <a:solidFill>
                  <a:schemeClr val="tx2"/>
                </a:solidFill>
              </a:rPr>
              <a:t>Data Engineering &amp; Methodology</a:t>
            </a:r>
            <a:endParaRPr lang="en-US" dirty="0">
              <a:solidFill>
                <a:schemeClr val="tx2"/>
              </a:solidFill>
            </a:endParaRPr>
          </a:p>
        </p:txBody>
      </p:sp>
      <p:pic>
        <p:nvPicPr>
          <p:cNvPr id="12" name="Picture Placeholder 4">
            <a:extLst>
              <a:ext uri="{FF2B5EF4-FFF2-40B4-BE49-F238E27FC236}">
                <a16:creationId xmlns:a16="http://schemas.microsoft.com/office/drawing/2014/main" id="{7D5BDB53-9169-3BBC-9362-0539514AC7DD}"/>
              </a:ext>
            </a:extLst>
          </p:cNvPr>
          <p:cNvPicPr>
            <a:picLocks noGrp="1" noChangeAspect="1"/>
          </p:cNvPicPr>
          <p:nvPr>
            <p:ph sz="quarter" idx="15"/>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tretch/>
        </p:blipFill>
        <p:spPr>
          <a:xfrm>
            <a:off x="641680" y="2676525"/>
            <a:ext cx="3739819" cy="2253274"/>
          </a:xfrm>
          <a:prstGeom prst="rect">
            <a:avLst/>
          </a:prstGeom>
          <a:ln>
            <a:noFill/>
          </a:ln>
          <a:effectLst>
            <a:outerShdw blurRad="292100" dist="139700" dir="2700000" algn="tl" rotWithShape="0">
              <a:srgbClr val="333333">
                <a:alpha val="65000"/>
              </a:srgbClr>
            </a:outerShdw>
          </a:effectLst>
        </p:spPr>
      </p:pic>
      <p:sp>
        <p:nvSpPr>
          <p:cNvPr id="3" name="Text Placeholder 2">
            <a:extLst>
              <a:ext uri="{FF2B5EF4-FFF2-40B4-BE49-F238E27FC236}">
                <a16:creationId xmlns:a16="http://schemas.microsoft.com/office/drawing/2014/main" id="{0E02AE9C-BA1D-195E-3B93-A5A0CC03D8F3}"/>
              </a:ext>
            </a:extLst>
          </p:cNvPr>
          <p:cNvSpPr>
            <a:spLocks noGrp="1"/>
          </p:cNvSpPr>
          <p:nvPr>
            <p:ph sz="quarter" idx="16"/>
          </p:nvPr>
        </p:nvSpPr>
        <p:spPr>
          <a:xfrm>
            <a:off x="5881898" y="2676525"/>
            <a:ext cx="4490827" cy="3597470"/>
          </a:xfrm>
        </p:spPr>
        <p:txBody>
          <a:bodyPr>
            <a:normAutofit lnSpcReduction="10000"/>
          </a:bodyPr>
          <a:lstStyle/>
          <a:p>
            <a:r>
              <a:rPr lang="en-US" dirty="0"/>
              <a:t>Our dataset contains a total of 16 columns. </a:t>
            </a:r>
          </a:p>
          <a:p>
            <a:r>
              <a:rPr lang="en-US" dirty="0"/>
              <a:t>A target variable “risk” was created which is derived from “final grade” </a:t>
            </a:r>
          </a:p>
          <a:p>
            <a:r>
              <a:rPr lang="en-US" dirty="0"/>
              <a:t>“Not at risk” : For “final grade” A,B and C</a:t>
            </a:r>
          </a:p>
          <a:p>
            <a:r>
              <a:rPr lang="en-US" dirty="0"/>
              <a:t>“At risk”: For “final grade” D, E and F </a:t>
            </a:r>
          </a:p>
          <a:p>
            <a:r>
              <a:rPr lang="en-US" dirty="0"/>
              <a:t>The multi-category grade prediction was shifted to </a:t>
            </a:r>
            <a:r>
              <a:rPr lang="en-US" b="1" dirty="0"/>
              <a:t>Binary Classification</a:t>
            </a:r>
            <a:r>
              <a:rPr lang="en-US" dirty="0"/>
              <a:t> to make the system more direct and actionable for intervention.</a:t>
            </a:r>
          </a:p>
          <a:p>
            <a:endParaRPr lang="en-US" dirty="0"/>
          </a:p>
        </p:txBody>
      </p:sp>
      <p:pic>
        <p:nvPicPr>
          <p:cNvPr id="9" name="Picture 8">
            <a:extLst>
              <a:ext uri="{FF2B5EF4-FFF2-40B4-BE49-F238E27FC236}">
                <a16:creationId xmlns:a16="http://schemas.microsoft.com/office/drawing/2014/main" id="{89E67C50-1639-03B8-CEB4-EEFE455B8BEC}"/>
              </a:ext>
            </a:extLst>
          </p:cNvPr>
          <p:cNvPicPr>
            <a:picLocks noChangeAspect="1"/>
          </p:cNvPicPr>
          <p:nvPr/>
        </p:nvPicPr>
        <p:blipFill>
          <a:blip r:embed="rId5"/>
          <a:stretch>
            <a:fillRect/>
          </a:stretch>
        </p:blipFill>
        <p:spPr>
          <a:xfrm>
            <a:off x="641681" y="5085277"/>
            <a:ext cx="3739820" cy="13631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0871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GB" dirty="0">
                <a:solidFill>
                  <a:schemeClr val="tx2"/>
                </a:solidFill>
              </a:rPr>
              <a:t>Technical Implementation(EDA &amp; Preprocessing)</a:t>
            </a:r>
            <a:endParaRPr lang="en-US" dirty="0">
              <a:solidFill>
                <a:schemeClr val="tx2"/>
              </a:solidFill>
            </a:endParaRP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4991725" y="1289154"/>
            <a:ext cx="7015395" cy="2248525"/>
          </a:xfrm>
        </p:spPr>
        <p:txBody>
          <a:bodyPr>
            <a:normAutofit/>
          </a:bodyPr>
          <a:lstStyle/>
          <a:p>
            <a:r>
              <a:rPr lang="en-US" sz="1600" dirty="0"/>
              <a:t>Before building a model, you have to understand the shape of the data. A distribution check was carried out to analyze how many students were "At Risk" versus "Not At Risk." If the groups are uneven (e.g., 90% are passing), the model might struggle to learn what "At Risk" looks like.</a:t>
            </a:r>
          </a:p>
          <a:p>
            <a:r>
              <a:rPr lang="en-US" sz="1600" dirty="0"/>
              <a:t>A correlation analysis was carried out also to know if there were existing relationships between variables. For example, does lower attendance correlate with higher risk</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4" name="Picture 3">
            <a:extLst>
              <a:ext uri="{FF2B5EF4-FFF2-40B4-BE49-F238E27FC236}">
                <a16:creationId xmlns:a16="http://schemas.microsoft.com/office/drawing/2014/main" id="{3D516CEA-D431-B688-78A7-91D3829B28BE}"/>
              </a:ext>
            </a:extLst>
          </p:cNvPr>
          <p:cNvPicPr>
            <a:picLocks noChangeAspect="1"/>
          </p:cNvPicPr>
          <p:nvPr/>
        </p:nvPicPr>
        <p:blipFill>
          <a:blip r:embed="rId3"/>
          <a:stretch>
            <a:fillRect/>
          </a:stretch>
        </p:blipFill>
        <p:spPr>
          <a:xfrm>
            <a:off x="0" y="2016312"/>
            <a:ext cx="4452079" cy="3058609"/>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32CA1459-0356-51E9-9069-51D2B41A5A40}"/>
              </a:ext>
            </a:extLst>
          </p:cNvPr>
          <p:cNvPicPr>
            <a:picLocks noChangeAspect="1"/>
          </p:cNvPicPr>
          <p:nvPr/>
        </p:nvPicPr>
        <p:blipFill>
          <a:blip r:embed="rId4"/>
          <a:stretch>
            <a:fillRect/>
          </a:stretch>
        </p:blipFill>
        <p:spPr>
          <a:xfrm>
            <a:off x="5298043" y="3417231"/>
            <a:ext cx="4452079" cy="3315377"/>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0ED94E8C-9A46-7985-F2D0-92008D95FA8D}"/>
              </a:ext>
            </a:extLst>
          </p:cNvPr>
          <p:cNvSpPr txBox="1"/>
          <p:nvPr/>
        </p:nvSpPr>
        <p:spPr>
          <a:xfrm>
            <a:off x="9750122" y="4706911"/>
            <a:ext cx="2256998" cy="646331"/>
          </a:xfrm>
          <a:prstGeom prst="rect">
            <a:avLst/>
          </a:prstGeom>
          <a:noFill/>
        </p:spPr>
        <p:txBody>
          <a:bodyPr wrap="square" rtlCol="0">
            <a:spAutoFit/>
          </a:bodyPr>
          <a:lstStyle/>
          <a:p>
            <a:r>
              <a:rPr lang="en-US" dirty="0">
                <a:solidFill>
                  <a:schemeClr val="bg1"/>
                </a:solidFill>
              </a:rPr>
              <a:t>Heatmap showing correlation</a:t>
            </a:r>
            <a:endParaRPr lang="en-GB" dirty="0">
              <a:solidFill>
                <a:schemeClr val="bg1"/>
              </a:solidFill>
            </a:endParaRPr>
          </a:p>
        </p:txBody>
      </p:sp>
    </p:spTree>
    <p:extLst>
      <p:ext uri="{BB962C8B-B14F-4D97-AF65-F5344CB8AC3E}">
        <p14:creationId xmlns:p14="http://schemas.microsoft.com/office/powerpoint/2010/main" val="32003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B362-9780-D557-822E-E8E3257555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C04BC9E-47B1-E0B2-1B20-AA3CD703CEE4}"/>
              </a:ext>
            </a:extLst>
          </p:cNvPr>
          <p:cNvSpPr>
            <a:spLocks noGrp="1"/>
          </p:cNvSpPr>
          <p:nvPr>
            <p:ph type="title"/>
          </p:nvPr>
        </p:nvSpPr>
        <p:spPr>
          <a:xfrm>
            <a:off x="594360" y="102875"/>
            <a:ext cx="10873740" cy="1680205"/>
          </a:xfrm>
        </p:spPr>
        <p:txBody>
          <a:bodyPr/>
          <a:lstStyle/>
          <a:p>
            <a:r>
              <a:rPr lang="en-GB" dirty="0">
                <a:solidFill>
                  <a:schemeClr val="tx2"/>
                </a:solidFill>
              </a:rPr>
              <a:t>Technical Implementation(EDA &amp; Preprocessing)</a:t>
            </a:r>
            <a:endParaRPr lang="en-US" dirty="0">
              <a:solidFill>
                <a:schemeClr val="tx2"/>
              </a:solidFill>
            </a:endParaRPr>
          </a:p>
        </p:txBody>
      </p:sp>
      <p:sp>
        <p:nvSpPr>
          <p:cNvPr id="7" name="Text Placeholder 6">
            <a:extLst>
              <a:ext uri="{FF2B5EF4-FFF2-40B4-BE49-F238E27FC236}">
                <a16:creationId xmlns:a16="http://schemas.microsoft.com/office/drawing/2014/main" id="{FB3355A4-FF22-928F-5F7B-37BDAAD5E673}"/>
              </a:ext>
            </a:extLst>
          </p:cNvPr>
          <p:cNvSpPr>
            <a:spLocks noGrp="1"/>
          </p:cNvSpPr>
          <p:nvPr>
            <p:ph sz="quarter" idx="13"/>
          </p:nvPr>
        </p:nvSpPr>
        <p:spPr>
          <a:xfrm>
            <a:off x="4991725" y="2449138"/>
            <a:ext cx="7015395" cy="3215062"/>
          </a:xfrm>
        </p:spPr>
        <p:txBody>
          <a:bodyPr>
            <a:normAutofit/>
          </a:bodyPr>
          <a:lstStyle/>
          <a:p>
            <a:r>
              <a:rPr lang="en-US" sz="1600" dirty="0"/>
              <a:t>As part of the pre-processing, label encoding is done. The computer does not understand the variable so we encode them into numbers. This is just the process of converting categories into numbers.</a:t>
            </a:r>
          </a:p>
          <a:p>
            <a:r>
              <a:rPr lang="en-US" sz="1600" dirty="0"/>
              <a:t>Some numbers in your data might be small (Age: 15–20), while others are large (Study Hours: 0–100). If you don't scale them, the model might think Study Hours are "more important" just because the numbers are bigger. </a:t>
            </a:r>
            <a:r>
              <a:rPr lang="en-US" sz="1600" b="1" dirty="0" err="1"/>
              <a:t>StandardScaler</a:t>
            </a:r>
            <a:r>
              <a:rPr lang="en-US" sz="1600" dirty="0"/>
              <a:t> brings all variables to the same scale so the model treats them fairly.</a:t>
            </a:r>
          </a:p>
          <a:p>
            <a:endParaRPr lang="en-US" sz="1600" dirty="0"/>
          </a:p>
        </p:txBody>
      </p:sp>
      <p:grpSp>
        <p:nvGrpSpPr>
          <p:cNvPr id="19" name="Group 18">
            <a:extLst>
              <a:ext uri="{FF2B5EF4-FFF2-40B4-BE49-F238E27FC236}">
                <a16:creationId xmlns:a16="http://schemas.microsoft.com/office/drawing/2014/main" id="{0B015E92-B34C-ABAA-0218-905593704B4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67EFCC5-36C1-A2B7-4F37-24D21885A0A6}"/>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3621448A-CCD0-431D-DF6A-9582CE957858}"/>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1A6FF17C-C1B1-048A-C187-20AF3273B8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4" name="Picture 3">
            <a:extLst>
              <a:ext uri="{FF2B5EF4-FFF2-40B4-BE49-F238E27FC236}">
                <a16:creationId xmlns:a16="http://schemas.microsoft.com/office/drawing/2014/main" id="{63CDA754-CA4F-B07E-9713-86E8250025D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177" y="2576708"/>
            <a:ext cx="4452079" cy="2192956"/>
          </a:xfrm>
          <a:prstGeom prst="rect">
            <a:avLst/>
          </a:prstGeom>
        </p:spPr>
      </p:pic>
    </p:spTree>
    <p:extLst>
      <p:ext uri="{BB962C8B-B14F-4D97-AF65-F5344CB8AC3E}">
        <p14:creationId xmlns:p14="http://schemas.microsoft.com/office/powerpoint/2010/main" val="133010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title"/>
          </p:nvPr>
        </p:nvSpPr>
        <p:spPr>
          <a:xfrm>
            <a:off x="594360" y="102875"/>
            <a:ext cx="8498840" cy="1027425"/>
          </a:xfrm>
        </p:spPr>
        <p:txBody>
          <a:bodyPr anchor="b">
            <a:normAutofit/>
          </a:bodyPr>
          <a:lstStyle/>
          <a:p>
            <a:r>
              <a:rPr lang="en-GB" dirty="0">
                <a:solidFill>
                  <a:schemeClr val="tx2"/>
                </a:solidFill>
              </a:rPr>
              <a:t>Variables &amp; Model Evaluation</a:t>
            </a:r>
            <a:endParaRPr lang="en-US" dirty="0">
              <a:solidFill>
                <a:schemeClr val="tx2"/>
              </a:solidFill>
            </a:endParaRPr>
          </a:p>
        </p:txBody>
      </p:sp>
      <p:sp>
        <p:nvSpPr>
          <p:cNvPr id="3" name="Text Placeholder 2">
            <a:extLst>
              <a:ext uri="{FF2B5EF4-FFF2-40B4-BE49-F238E27FC236}">
                <a16:creationId xmlns:a16="http://schemas.microsoft.com/office/drawing/2014/main" id="{591442CD-A26D-1761-8CE7-8BC3075BB4ED}"/>
              </a:ext>
            </a:extLst>
          </p:cNvPr>
          <p:cNvSpPr>
            <a:spLocks noGrp="1"/>
          </p:cNvSpPr>
          <p:nvPr>
            <p:ph sz="quarter" idx="13"/>
          </p:nvPr>
        </p:nvSpPr>
        <p:spPr>
          <a:xfrm>
            <a:off x="4267200" y="1244600"/>
            <a:ext cx="7200900" cy="4648200"/>
          </a:xfrm>
        </p:spPr>
        <p:txBody>
          <a:bodyPr>
            <a:normAutofit/>
          </a:bodyPr>
          <a:lstStyle/>
          <a:p>
            <a:r>
              <a:rPr lang="en-US" sz="1800" dirty="0"/>
              <a:t>The model being used is logistic regression. It is a classification algorithm. It is excellent for binary outcomes. Also, It doesn't just give a category; it gives a </a:t>
            </a:r>
            <a:r>
              <a:rPr lang="en-US" sz="1800" b="1" dirty="0"/>
              <a:t>probability score</a:t>
            </a:r>
            <a:r>
              <a:rPr lang="en-US" sz="1800" dirty="0"/>
              <a:t> (e.g., "This student has an 85% chance of being At Risk").</a:t>
            </a:r>
          </a:p>
          <a:p>
            <a:r>
              <a:rPr lang="en-US" sz="1800" dirty="0"/>
              <a:t>Model evaluation focused on identifying the most influential predictors, which included factors like attendance percentage, study hours, and previous scores in core subjects like Math and Science. The performance of the system was measured using high-level metrics such as precision, recall, and the F1-score to ensure balanced results. With an overall accuracy of 92%, the model proved highly reliable. </a:t>
            </a:r>
          </a:p>
          <a:p>
            <a:r>
              <a:rPr lang="en-US" sz="1800" dirty="0"/>
              <a:t>The evaluation used a Confusion Matrix to visualize the accuracy of "At Risk" detections, confirming that the system has a high success rate in identifying struggling students while maintaining a low rate of false alarms.</a:t>
            </a:r>
          </a:p>
        </p:txBody>
      </p:sp>
      <p:pic>
        <p:nvPicPr>
          <p:cNvPr id="4" name="Picture 3">
            <a:extLst>
              <a:ext uri="{FF2B5EF4-FFF2-40B4-BE49-F238E27FC236}">
                <a16:creationId xmlns:a16="http://schemas.microsoft.com/office/drawing/2014/main" id="{CAC20F3C-4AF3-C923-C3AA-0F239FEC1769}"/>
              </a:ext>
            </a:extLst>
          </p:cNvPr>
          <p:cNvPicPr>
            <a:picLocks noChangeAspect="1"/>
          </p:cNvPicPr>
          <p:nvPr/>
        </p:nvPicPr>
        <p:blipFill>
          <a:blip r:embed="rId3"/>
          <a:stretch>
            <a:fillRect/>
          </a:stretch>
        </p:blipFill>
        <p:spPr>
          <a:xfrm>
            <a:off x="75615" y="1601566"/>
            <a:ext cx="4191585" cy="31722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3905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198408"/>
            <a:ext cx="10972800" cy="1574317"/>
          </a:xfrm>
        </p:spPr>
        <p:txBody>
          <a:bodyPr anchor="b">
            <a:normAutofit/>
          </a:bodyPr>
          <a:lstStyle/>
          <a:p>
            <a:r>
              <a:rPr lang="en-GB" dirty="0">
                <a:solidFill>
                  <a:schemeClr val="tx2"/>
                </a:solidFill>
              </a:rPr>
              <a:t>Practical Application &amp; Conclusion</a:t>
            </a:r>
            <a:endParaRPr lang="en-US" dirty="0">
              <a:solidFill>
                <a:schemeClr val="tx2"/>
              </a:solidFill>
            </a:endParaRPr>
          </a:p>
        </p:txBody>
      </p:sp>
      <p:sp>
        <p:nvSpPr>
          <p:cNvPr id="14" name="Content Placeholder 2">
            <a:extLst>
              <a:ext uri="{FF2B5EF4-FFF2-40B4-BE49-F238E27FC236}">
                <a16:creationId xmlns:a16="http://schemas.microsoft.com/office/drawing/2014/main" id="{DB097449-5B72-ADA0-3B2D-1CBC160D6B90}"/>
              </a:ext>
            </a:extLst>
          </p:cNvPr>
          <p:cNvSpPr>
            <a:spLocks noGrp="1"/>
          </p:cNvSpPr>
          <p:nvPr>
            <p:ph sz="quarter" idx="13"/>
          </p:nvPr>
        </p:nvSpPr>
        <p:spPr>
          <a:xfrm>
            <a:off x="595523" y="2676525"/>
            <a:ext cx="5746750" cy="3597470"/>
          </a:xfrm>
        </p:spPr>
        <p:txBody>
          <a:bodyPr>
            <a:normAutofit/>
          </a:bodyPr>
          <a:lstStyle/>
          <a:p>
            <a:r>
              <a:rPr lang="en-US" sz="1700"/>
              <a:t>In conclusion, this Students Result Management System offers a practical solution for modern educational challenges. By processing unseen student data, the model can provide administrators with a probability of risk, allowing them to prioritize resources for high-need individuals before the end of the academic term. The system demonstrates that data-driven insights can lead to more proactive educational environments. </a:t>
            </a:r>
          </a:p>
          <a:p>
            <a:r>
              <a:rPr lang="en-US" sz="1700"/>
              <a:t>Future applications could involve integrating real-time attendance tracking to provide even more immediate feedback, further bridging the gap between data science and student success.</a:t>
            </a:r>
          </a:p>
          <a:p>
            <a:endParaRPr lang="en-US" sz="1700"/>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4"/>
          </p:nvPr>
        </p:nvSpPr>
        <p:spPr>
          <a:xfrm>
            <a:off x="7620000" y="2676525"/>
            <a:ext cx="3947160" cy="3597470"/>
          </a:xfrm>
        </p:spPr>
        <p:txBody>
          <a:bodyPr>
            <a:normAutofit/>
          </a:bodyPr>
          <a:lstStyle/>
          <a:p>
            <a:r>
              <a:rPr lang="en-US" dirty="0"/>
              <a:t>  </a:t>
            </a:r>
          </a:p>
        </p:txBody>
      </p:sp>
    </p:spTree>
    <p:extLst>
      <p:ext uri="{BB962C8B-B14F-4D97-AF65-F5344CB8AC3E}">
        <p14:creationId xmlns:p14="http://schemas.microsoft.com/office/powerpoint/2010/main" val="88848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dirty="0">
                <a:solidFill>
                  <a:schemeClr val="tx2"/>
                </a:solidFill>
              </a:rPr>
              <a:t>THANKS FOR LISTENING </a:t>
            </a:r>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1841500" y="1803400"/>
            <a:ext cx="4343400" cy="2171699"/>
          </a:xfrm>
        </p:spPr>
        <p:txBody>
          <a:bodyPr>
            <a:normAutofit lnSpcReduction="10000"/>
          </a:bodyPr>
          <a:lstStyle/>
          <a:p>
            <a:pPr marL="0" indent="0">
              <a:buNone/>
            </a:pPr>
            <a:r>
              <a:rPr lang="en-US" sz="4400" dirty="0"/>
              <a:t>END OF PRESENTATION</a:t>
            </a:r>
          </a:p>
          <a:p>
            <a:pPr marL="0" indent="0">
              <a:buNone/>
            </a:pPr>
            <a:r>
              <a:rPr lang="en-US" sz="4400" dirty="0"/>
              <a:t>GROUP 1</a:t>
            </a: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594360" y="2810595"/>
            <a:ext cx="5198269" cy="3319513"/>
          </a:xfrm>
        </p:spPr>
        <p:txBody>
          <a:bodyPr>
            <a:normAutofit/>
          </a:bodyPr>
          <a:lstStyle/>
          <a:p>
            <a:r>
              <a:rPr lang="en-US" dirty="0"/>
              <a:t> </a:t>
            </a:r>
          </a:p>
          <a:p>
            <a:endParaRPr lang="en-US" dirty="0"/>
          </a:p>
        </p:txBody>
      </p:sp>
    </p:spTree>
    <p:extLst>
      <p:ext uri="{BB962C8B-B14F-4D97-AF65-F5344CB8AC3E}">
        <p14:creationId xmlns:p14="http://schemas.microsoft.com/office/powerpoint/2010/main" val="3088225330"/>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www.w3.org/2000/xmlns/"/>
    <ds:schemaRef ds:uri="71af3243-3dd4-4a8d-8c0d-dd76da1f02a5"/>
    <ds:schemaRef ds:uri="http://schemas.microsoft.com/sharepoint/v3"/>
    <ds:schemaRef ds:uri="http://www.w3.org/2001/XMLSchema-instance"/>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{A58E6C5E-5B01-439B-B3DD-E35C94CF2A02}TFd3b75063-ff25-434d-b12c-efeaf07d16c3292f62b5_win32-75a75c970d8e</Template>
  <TotalTime>173</TotalTime>
  <Words>661</Words>
  <Application>Microsoft Office PowerPoint</Application>
  <PresentationFormat>Widescreen</PresentationFormat>
  <Paragraphs>46</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Custom</vt:lpstr>
      <vt:lpstr>Students Result Management System</vt:lpstr>
      <vt:lpstr>Outline</vt:lpstr>
      <vt:lpstr>Project Overview &amp; Objectives </vt:lpstr>
      <vt:lpstr>Data Engineering &amp; Methodology</vt:lpstr>
      <vt:lpstr>Technical Implementation(EDA &amp; Preprocessing)</vt:lpstr>
      <vt:lpstr>Technical Implementation(EDA &amp; Preprocessing)</vt:lpstr>
      <vt:lpstr>Variables &amp; Model Evaluation</vt:lpstr>
      <vt:lpstr>Practical Application &amp; Conclusion</vt:lpstr>
      <vt:lpstr>THANKS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Students Result Management System</dc:title>
  <dc:creator>Chukwubuikem Nwaeme</dc:creator>
  <cp:lastModifiedBy>Joy Udoh</cp:lastModifiedBy>
  <cp:revision>3</cp:revision>
  <dcterms:created xsi:type="dcterms:W3CDTF">2026-01-15T18:15:39Z</dcterms:created>
  <dcterms:modified xsi:type="dcterms:W3CDTF">2026-01-16T17:58:49Z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